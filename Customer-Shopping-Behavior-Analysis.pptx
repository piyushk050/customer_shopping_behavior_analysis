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Gelasio" panose="020B0604020202020204" charset="0"/>
      <p:regular r:id="rId17"/>
    </p:embeddedFont>
    <p:embeddedFont>
      <p:font typeface="Gelasio Semi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5" d="100"/>
          <a:sy n="45" d="100"/>
        </p:scale>
        <p:origin x="4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1304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Uncovering insights from 3,900 purchases across product categories to guide strategic business decisions.</a:t>
            </a:r>
            <a:endParaRPr lang="en-US" sz="17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C63F02-5F8F-4652-9E07-E7DD38E00B62}"/>
              </a:ext>
            </a:extLst>
          </p:cNvPr>
          <p:cNvSpPr/>
          <p:nvPr/>
        </p:nvSpPr>
        <p:spPr>
          <a:xfrm>
            <a:off x="12759070" y="7549116"/>
            <a:ext cx="1871330" cy="6804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8846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037403"/>
            <a:ext cx="3664744" cy="1669852"/>
          </a:xfrm>
          <a:prstGeom prst="roundRect">
            <a:avLst>
              <a:gd name="adj" fmla="val 2038"/>
            </a:avLst>
          </a:prstGeom>
          <a:solidFill>
            <a:srgbClr val="EEE8DD"/>
          </a:solidFill>
          <a:ln/>
        </p:spPr>
      </p:sp>
      <p:sp>
        <p:nvSpPr>
          <p:cNvPr id="5" name="Text 2"/>
          <p:cNvSpPr/>
          <p:nvPr/>
        </p:nvSpPr>
        <p:spPr>
          <a:xfrm>
            <a:off x="6507004" y="32642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3,900 Purchases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7004" y="3754636"/>
            <a:ext cx="3211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Complete transactional records analyzed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3037403"/>
            <a:ext cx="3664863" cy="1669852"/>
          </a:xfrm>
          <a:prstGeom prst="roundRect">
            <a:avLst>
              <a:gd name="adj" fmla="val 2038"/>
            </a:avLst>
          </a:prstGeom>
          <a:solidFill>
            <a:srgbClr val="EEE8DD"/>
          </a:solidFill>
          <a:ln/>
        </p:spPr>
      </p:sp>
      <p:sp>
        <p:nvSpPr>
          <p:cNvPr id="8" name="Text 5"/>
          <p:cNvSpPr/>
          <p:nvPr/>
        </p:nvSpPr>
        <p:spPr>
          <a:xfrm>
            <a:off x="10398562" y="32642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18 Columns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98562" y="3754636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Demographics, purchase details, behavior metrics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4934069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EEE8DD"/>
          </a:solidFill>
          <a:ln/>
        </p:spPr>
      </p:sp>
      <p:sp>
        <p:nvSpPr>
          <p:cNvPr id="11" name="Text 8"/>
          <p:cNvSpPr/>
          <p:nvPr/>
        </p:nvSpPr>
        <p:spPr>
          <a:xfrm>
            <a:off x="6507004" y="51608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37 Missing Values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07004" y="5651302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Review ratings imputed by category median</a:t>
            </a:r>
            <a:endParaRPr lang="en-US" sz="1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83CBE9-142B-4A1A-B270-6EABCEC62744}"/>
              </a:ext>
            </a:extLst>
          </p:cNvPr>
          <p:cNvSpPr/>
          <p:nvPr/>
        </p:nvSpPr>
        <p:spPr>
          <a:xfrm>
            <a:off x="12759070" y="7549116"/>
            <a:ext cx="1871330" cy="6804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6900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Customer Demographics &amp; Segments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40073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3,116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793790" y="4471868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Loyal Customers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5316617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Repeat purchasers driving revenue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3407093" y="3440073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701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3407093" y="4471868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Returning Customers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407093" y="5316617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Growth opportunity segment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020395" y="3440073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83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6020395" y="4471868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New Customers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020395" y="4962287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Fresh acquisition potential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93790" y="629757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Age range: 18–70 years. Average age: 44 years.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9795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Revenue Analysis by Demographics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6824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By Gender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4263628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Male: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$157,890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4830604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Female: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$75,191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342721" y="36824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By Age Group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342721" y="4263628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Young Adult: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$62,143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342721" y="4830604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Middle-aged: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$59,197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342721" y="5397579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Adult: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$55,978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0342721" y="5964555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Senior: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$55,763</a:t>
            </a:r>
            <a:endParaRPr lang="en-US" sz="17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700B12-4B65-4395-9E52-ACCC12D2B75E}"/>
              </a:ext>
            </a:extLst>
          </p:cNvPr>
          <p:cNvSpPr/>
          <p:nvPr/>
        </p:nvSpPr>
        <p:spPr>
          <a:xfrm>
            <a:off x="12759070" y="7549116"/>
            <a:ext cx="1871330" cy="6804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26663"/>
            <a:ext cx="570416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Subscription Impact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2588538" y="3563422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1,053</a:t>
            </a:r>
            <a:endParaRPr lang="en-US" sz="4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2428" y="2145744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5916" y="58315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Subscribers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321981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Avg spend: $59.49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9251633" y="3563422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2,847</a:t>
            </a:r>
            <a:endParaRPr lang="en-US" sz="4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5523" y="2145744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229130" y="58315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Non-Subscribers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456884" y="6321981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Avg spend: $59.87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793790" y="694003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Subscribers generate $62,645 total revenue. Non-subscribers: $170,436. Opportunity: convert high-value non-subscribers.</a:t>
            </a:r>
            <a:endParaRPr lang="en-US" sz="17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30DAD3-9815-477E-9920-E50D4F1EBD65}"/>
              </a:ext>
            </a:extLst>
          </p:cNvPr>
          <p:cNvSpPr/>
          <p:nvPr/>
        </p:nvSpPr>
        <p:spPr>
          <a:xfrm>
            <a:off x="12759070" y="7549116"/>
            <a:ext cx="1871330" cy="6804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36151"/>
            <a:ext cx="715208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Top Products by Category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1685092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EEE8DD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19119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Accessories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2402324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Jewelry (171), Sunglasses (161), Belt (161)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3218855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EEE8DD"/>
          </a:solidFill>
          <a:ln/>
        </p:spPr>
      </p:sp>
      <p:sp>
        <p:nvSpPr>
          <p:cNvPr id="8" name="Text 5"/>
          <p:cNvSpPr/>
          <p:nvPr/>
        </p:nvSpPr>
        <p:spPr>
          <a:xfrm>
            <a:off x="1020604" y="34456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Clothing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0604" y="3936087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Blouse (171), Pants (171), Shirt (169)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4752618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EEE8DD"/>
          </a:solidFill>
          <a:ln/>
        </p:spPr>
      </p:sp>
      <p:sp>
        <p:nvSpPr>
          <p:cNvPr id="11" name="Text 8"/>
          <p:cNvSpPr/>
          <p:nvPr/>
        </p:nvSpPr>
        <p:spPr>
          <a:xfrm>
            <a:off x="1020604" y="49794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Footwear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0604" y="5469850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Sandals (160), Shoes (150), Sneakers (145)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93790" y="6286381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EEE8DD"/>
          </a:solidFill>
          <a:ln/>
        </p:spPr>
      </p:sp>
      <p:sp>
        <p:nvSpPr>
          <p:cNvPr id="14" name="Text 11"/>
          <p:cNvSpPr/>
          <p:nvPr/>
        </p:nvSpPr>
        <p:spPr>
          <a:xfrm>
            <a:off x="1020604" y="65131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Outerwear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20604" y="7003613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Jacket (163), Coat (161)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7943" y="540544"/>
            <a:ext cx="7504271" cy="61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Discount &amp; Promotion Insights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687943" y="1547693"/>
            <a:ext cx="13254514" cy="314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Top 5 discount-dependent products: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7943" y="2083237"/>
            <a:ext cx="442198" cy="442198"/>
          </a:xfrm>
          <a:prstGeom prst="roundRect">
            <a:avLst>
              <a:gd name="adj" fmla="val 6668"/>
            </a:avLst>
          </a:prstGeom>
          <a:solidFill>
            <a:srgbClr val="EEE8DD"/>
          </a:solidFill>
          <a:ln/>
        </p:spPr>
      </p:sp>
      <p:sp>
        <p:nvSpPr>
          <p:cNvPr id="5" name="Text 3"/>
          <p:cNvSpPr/>
          <p:nvPr/>
        </p:nvSpPr>
        <p:spPr>
          <a:xfrm>
            <a:off x="761643" y="2120086"/>
            <a:ext cx="294799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326594" y="2150745"/>
            <a:ext cx="2456974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Hat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26594" y="2575798"/>
            <a:ext cx="12615863" cy="314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50% discount rate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7943" y="3283268"/>
            <a:ext cx="442198" cy="442198"/>
          </a:xfrm>
          <a:prstGeom prst="roundRect">
            <a:avLst>
              <a:gd name="adj" fmla="val 6668"/>
            </a:avLst>
          </a:prstGeom>
          <a:solidFill>
            <a:srgbClr val="EEE8DD"/>
          </a:solidFill>
          <a:ln/>
        </p:spPr>
      </p:sp>
      <p:sp>
        <p:nvSpPr>
          <p:cNvPr id="9" name="Text 7"/>
          <p:cNvSpPr/>
          <p:nvPr/>
        </p:nvSpPr>
        <p:spPr>
          <a:xfrm>
            <a:off x="761643" y="3320117"/>
            <a:ext cx="294799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2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326594" y="3350776"/>
            <a:ext cx="2456974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Sneakers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326594" y="3775829"/>
            <a:ext cx="12615863" cy="314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49.66% discount rate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7943" y="4483298"/>
            <a:ext cx="442198" cy="442198"/>
          </a:xfrm>
          <a:prstGeom prst="roundRect">
            <a:avLst>
              <a:gd name="adj" fmla="val 6668"/>
            </a:avLst>
          </a:prstGeom>
          <a:solidFill>
            <a:srgbClr val="EEE8DD"/>
          </a:solidFill>
          <a:ln/>
        </p:spPr>
      </p:sp>
      <p:sp>
        <p:nvSpPr>
          <p:cNvPr id="13" name="Text 11"/>
          <p:cNvSpPr/>
          <p:nvPr/>
        </p:nvSpPr>
        <p:spPr>
          <a:xfrm>
            <a:off x="761643" y="4520148"/>
            <a:ext cx="294799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3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326594" y="4550807"/>
            <a:ext cx="2456974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Coat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326594" y="4975860"/>
            <a:ext cx="12615863" cy="314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49.07% discount rate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7943" y="5683329"/>
            <a:ext cx="442198" cy="442198"/>
          </a:xfrm>
          <a:prstGeom prst="roundRect">
            <a:avLst>
              <a:gd name="adj" fmla="val 6668"/>
            </a:avLst>
          </a:prstGeom>
          <a:solidFill>
            <a:srgbClr val="EEE8DD"/>
          </a:solidFill>
          <a:ln/>
        </p:spPr>
      </p:sp>
      <p:sp>
        <p:nvSpPr>
          <p:cNvPr id="17" name="Text 15"/>
          <p:cNvSpPr/>
          <p:nvPr/>
        </p:nvSpPr>
        <p:spPr>
          <a:xfrm>
            <a:off x="761643" y="5720179"/>
            <a:ext cx="294799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4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326594" y="5750838"/>
            <a:ext cx="2456974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Sweater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326594" y="6175891"/>
            <a:ext cx="12615863" cy="314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48.17% discount rate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87943" y="6883360"/>
            <a:ext cx="442198" cy="442198"/>
          </a:xfrm>
          <a:prstGeom prst="roundRect">
            <a:avLst>
              <a:gd name="adj" fmla="val 6668"/>
            </a:avLst>
          </a:prstGeom>
          <a:solidFill>
            <a:srgbClr val="EEE8DD"/>
          </a:solidFill>
          <a:ln/>
        </p:spPr>
      </p:sp>
      <p:sp>
        <p:nvSpPr>
          <p:cNvPr id="21" name="Text 19"/>
          <p:cNvSpPr/>
          <p:nvPr/>
        </p:nvSpPr>
        <p:spPr>
          <a:xfrm>
            <a:off x="761643" y="6920210"/>
            <a:ext cx="294799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5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326594" y="6950869"/>
            <a:ext cx="2456974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Pants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326594" y="7375922"/>
            <a:ext cx="12615863" cy="314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47.37% discount rate</a:t>
            </a:r>
            <a:endParaRPr lang="en-US" sz="15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B969E86-B932-4ECB-A820-1DCF364CF050}"/>
              </a:ext>
            </a:extLst>
          </p:cNvPr>
          <p:cNvSpPr/>
          <p:nvPr/>
        </p:nvSpPr>
        <p:spPr>
          <a:xfrm>
            <a:off x="12759070" y="7549116"/>
            <a:ext cx="1871330" cy="6804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1853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Shipping &amp; Purchase Behavior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603069"/>
            <a:ext cx="28439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Shipping Preference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4184213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Free Shipping: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2,223 orders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4751189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Express: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Avg $60.48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5318165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Standard: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Avg $58.46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342721" y="3603069"/>
            <a:ext cx="28382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Purchase Frequency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42721" y="4184213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Every 3 Months: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584 customers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342721" y="4751189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High-Spending Discount Users: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839 customers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0342721" y="5681067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Repeat buyers (5+ purchases): 958 with subscriptions</a:t>
            </a:r>
            <a:endParaRPr lang="en-US" sz="17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7FA733-B988-47CB-A217-321EC7D6281E}"/>
              </a:ext>
            </a:extLst>
          </p:cNvPr>
          <p:cNvSpPr/>
          <p:nvPr/>
        </p:nvSpPr>
        <p:spPr>
          <a:xfrm>
            <a:off x="12759070" y="7549116"/>
            <a:ext cx="1871330" cy="6804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4319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Top-Rated Products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905601"/>
            <a:ext cx="4196358" cy="1367909"/>
          </a:xfrm>
          <a:prstGeom prst="roundRect">
            <a:avLst>
              <a:gd name="adj" fmla="val 2487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31628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Gloves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084" y="3653314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3.86 rating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2905601"/>
            <a:ext cx="4196358" cy="1367909"/>
          </a:xfrm>
          <a:prstGeom prst="roundRect">
            <a:avLst>
              <a:gd name="adj" fmla="val 2487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74256" y="31628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Sandals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74256" y="3653314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3.84 rating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2905601"/>
            <a:ext cx="4196358" cy="1367909"/>
          </a:xfrm>
          <a:prstGeom prst="roundRect">
            <a:avLst>
              <a:gd name="adj" fmla="val 2487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97427" y="31628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Boots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97427" y="3653314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3.82 rating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500324"/>
            <a:ext cx="6407944" cy="1367909"/>
          </a:xfrm>
          <a:prstGeom prst="roundRect">
            <a:avLst>
              <a:gd name="adj" fmla="val 2487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084" y="47576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Hat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51084" y="5248037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3.80 rating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500324"/>
            <a:ext cx="6407944" cy="1367909"/>
          </a:xfrm>
          <a:prstGeom prst="roundRect">
            <a:avLst>
              <a:gd name="adj" fmla="val 2487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5842" y="47576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Skirt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85842" y="5248037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3.78 rating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93790" y="612338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Customer satisfaction drives loyalty. Highlight top-rated products in marketing campaigns.</a:t>
            </a:r>
            <a:endParaRPr lang="en-US" sz="17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D65361-5F70-483E-9DA3-7B58C47AE74C}"/>
              </a:ext>
            </a:extLst>
          </p:cNvPr>
          <p:cNvSpPr/>
          <p:nvPr/>
        </p:nvSpPr>
        <p:spPr>
          <a:xfrm>
            <a:off x="12759070" y="7549116"/>
            <a:ext cx="1871330" cy="6804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4879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Strategic Recommendations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8800" y="2613541"/>
            <a:ext cx="340162" cy="34016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30906" y="26065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Boost Subscriptions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1530906" y="3096935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Promote exclusive benefits to convert non-subscribers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8800" y="3920490"/>
            <a:ext cx="340162" cy="34016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530906" y="3913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Loyalty Programs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1530906" y="4403884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Reward repeat buyers to strengthen "Loyal" segment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8800" y="5227439"/>
            <a:ext cx="340162" cy="34016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530906" y="5220414"/>
            <a:ext cx="32546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Review Discount Policy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530906" y="5710833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Balance sales with margin control on high-discount items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8800" y="6534388"/>
            <a:ext cx="340162" cy="34016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530906" y="65273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Targeted Marketing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1530906" y="7017782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Focus on high-revenue age groups and express-shipping users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364</Words>
  <Application>Microsoft Office PowerPoint</Application>
  <PresentationFormat>Custom</PresentationFormat>
  <Paragraphs>103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Gelasio Semi Bold</vt:lpstr>
      <vt:lpstr>Gelasio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USER</cp:lastModifiedBy>
  <cp:revision>2</cp:revision>
  <dcterms:created xsi:type="dcterms:W3CDTF">2025-11-07T08:59:04Z</dcterms:created>
  <dcterms:modified xsi:type="dcterms:W3CDTF">2025-11-07T09:30:45Z</dcterms:modified>
</cp:coreProperties>
</file>